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0E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0E1F"/>
                </a:solidFill>
                <a:latin typeface="Arial"/>
              </a:rPr>
              <a:t>Year 1 ARR build (USD '000)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API (SKU 1)</c:v>
                </c:pt>
              </c:strCache>
            </c:strRef>
          </c:tx>
          <c:spPr>
            <a:solidFill>
              <a:srgbClr val="0F1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Stack-Vault (SKU 3)</c:v>
                </c:pt>
              </c:strCache>
            </c:strRef>
          </c:tx>
          <c:spPr>
            <a:solidFill>
              <a:srgbClr val="FFB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Enterprise JD-Forge (SKU 2)</c:v>
                </c:pt>
              </c:strCache>
            </c:strRef>
          </c:tx>
          <c:spPr>
            <a:solidFill>
              <a:srgbClr val="FFD5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1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Recruiter ReadyBank (SKU 1)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1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Recruiter JD-Forge (SKU 2)</c:v>
                </c:pt>
              </c:strCache>
            </c:strRef>
          </c:tx>
          <c:spPr>
            <a:solidFill>
              <a:srgbClr val="5EE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Year 1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182880"/>
            <a:ext cx="3200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TALPRO UNIVERSE  ·  CTO OFFICE  · 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question bank for hiring.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9144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Master Blueprint v1.1  ·  </a:t>
            </a:r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Bhaskar Anand,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Question-Bank-as-a-Service  ·  AI-authored, I/O-psychologist-validated, anti-leak-rotated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is content-hungry — and content leaks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6517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months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half-life of a coding question on a major platform before it appears on Glassdoor, Reddit, GeeksforGeeks, or LeetCode discussion forums.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observation across HackerRank, HackerEarth, Mettl content cycles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54864" cy="8686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is expensive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$80K–$150K/yr per content engineer; 5–15 needed at scale; ships only ~1,800 questions/year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54864" cy="8686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can't keep 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 net-new questions/month required just to stay still; in-house teams hit ceiling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54864" cy="8686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474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leaked banks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pre-coach on private WhatsApp/Telegram groups; signal collapses; trust erodes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$30B+ market growing at 9–11% CAGR — content sub-wedge underserved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assessment market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5087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42900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1792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sub-wedge addressable in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4864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assessment adoption YoY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200400"/>
            <a:ext cx="54864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200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2900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Mid-large enterprises now use skills-first hiring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4864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200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proctored test volume YoY (GCC-driven)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forces converged in 2024–2026 that did not all hold in 2020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authoring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 from junior author drafts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828800"/>
            <a:ext cx="1554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20116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India volume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3337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1,800+ GCCs hiring ~400K technical roles/yr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828800"/>
            <a:ext cx="1554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20116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3192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Skills-first hiring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337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62% of mid-large enterprise adoption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828800"/>
            <a:ext cx="1554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transparency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3337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Crawlable + measurable on Glassdoor/Reddit/GfG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828800"/>
            <a:ext cx="1554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20116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gap widened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3337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 in-house vs outsourced authoring economics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24–36 months before incumbents either build internal AI authoring teams or accept content-as-a-service as a permanent supply layer.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platforms, 4 tiers — none owns the content layer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93392" cy="3657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Global Leaders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9933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Mercer Mettl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HackerEarth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CodeSignal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78608" y="1554480"/>
            <a:ext cx="1993392" cy="365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2670048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Specialist Coding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78608" y="1965960"/>
            <a:ext cx="19933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DevSkiller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CoderPad/CodinGame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0016" y="1554480"/>
            <a:ext cx="1993392" cy="3657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India-Strong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0016" y="1965960"/>
            <a:ext cx="19933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Xobin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HirePro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Speedexam/Talview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21424" y="1554480"/>
            <a:ext cx="1993392" cy="365760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14" name="Text 12"/>
          <p:cNvSpPr/>
          <p:nvPr/>
        </p:nvSpPr>
        <p:spPr>
          <a:xfrm>
            <a:off x="6912864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— Emerging /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21424" y="1965960"/>
            <a:ext cx="19933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Talogy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Testlify (+)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makes a 2-of-3 trade-off across (rich · fresh · defensible). QOrium delivers all three.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gaps no top-20 platform owns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64208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 rotation engine (continuous scan + auto-retire + AI-regenerate)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664208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15544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enterprise-stack content depth (SAP, Oracle, Salesforce, BFSI, embedded)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3774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677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role-graph taxonomy (role × skill × difficulty × format)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21992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3774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22677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variants + forensic watermarking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35224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90672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90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98094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universal export (HackerRank · Mettl · Codility · CSV · JSON)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935224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090672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090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98094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AI-era format coverage (prompt-engineering, pair-with-AI, autonomous-workflow)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321040" cy="5943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822192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703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AI-authored + I/O-psych-validated production pipeline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3 — Gap Analysis quantifies this across 21-platform × 40-format × 28-role matrices.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in three sentences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AI-speed authoring with I/O-psychologist-grade validation, run a continuous anti-leak rotation engine, organize every question in a normalized role-graph, and ship to any platform's import format via a single API.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three SKUs — a shared ReadyBank library, on-demand JD-Forge generation, and customer-exclusive Stack-Vault libraries — covering the full continuum from commodity to fully exclusive IP.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compete with HackerRank, Mettl, or Codility. We make their content libraries better, fresher, and harder to leak — and we are the content layer the entire $30B assessment industry was missing.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SKUs spanning the IP-exclusivity continuum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ReadyBank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multi-tenant library indexed by skill, sold non-exclusively to many clients.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50208"/>
            <a:ext cx="2606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41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$50K–$500K/yr (platforms)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₹4,999–₹49,999/mo (recruiters)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554480"/>
            <a:ext cx="2606040" cy="4114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JD-Forge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29000" y="269748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JD-specific question packs generated fresh every time a JD is uploaded.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3950208"/>
            <a:ext cx="2606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4041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$199 / $499 per JD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subscription tiers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554480"/>
            <a:ext cx="2606040" cy="41148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Stack-Vault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269748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Customer-exclusive IP-protected library aligned to one company's tech stack, reusable infinitely.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3950208"/>
            <a:ext cx="2606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041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 (Dept) / ₹40L (Ent)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₹1Cr+ (Group) per year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ReadyBank — the scale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library, sold to many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 validated questions across 1,000+ skills, indexed in role-graph, exportable to any platform's import format. Continuous anti-leak rotation. Quarterly refresh.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platforms (REST API license)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firms (subscription + bulk export)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enterprises (one-time packs)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931920" cy="292608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Starter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Q/mo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0" y="2148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$50K/yr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Q/mo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$150K/yr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Enterprise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2880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· Solo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₹4,999/mo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· Team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611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1,000/mo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3611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₹14,999/mo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· Agency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3977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5,000/mo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3977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₹49,999/mo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4124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9087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Library size · Role-graph organization · Anti-leak rotation · 90%+ gross margin at scale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JD-Forge — the velocity 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JD-specific generation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JD; receive a 20-question custom pack in 30 seconds (Standard) or 4 hours with SME review (Reviewed). Anti-leak filter at generation time.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with high JD volume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firms running active drives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search / one-off premium hires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931920" cy="292608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4871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 · AI only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JD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487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$499/mo · 25 JDs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2971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2644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 · AI + SME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/ JD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264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$1,999/mo · 15 JDs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40416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 · AI + SME + 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 / JD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4041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$9,999/mo · 30 JDs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41248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9087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JD-parsing accuracy · Pipeline quality · Anti-leak filter at generation · 80–95% gross margin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Stack-Vault — the enterprise lock-in 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Customer-exclusive IP-protected library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2,000–5,000 questions custom-built to one customer's tech stack. Watermarked per customer. Reusable infinitely across all their assessments. Quarterly refresh.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GCCs (Bosch, Siemens, JPMC India, etc.)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IT services (TCS, Infosys, Wipro, HCL)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majors (HDFC, ICICI, Axis, JPMC)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931920" cy="292608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 tiers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487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dept · 5–10 roles · 500 Q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3264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Multi-dept · 20–30 roles · 2,000 Q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₹40,00,000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4041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org · 50+ roles · 5,000+ Q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₹1,00,00,000+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8412480" cy="36576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9087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Customer-specific corpus · Watermarking + forensic attribution · Switching cost · Year-2+ recurring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buyer segments, three parallel sales motions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Platforms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HackerRank, Mettl, HackerEarth, iMocha, WeCP, Adaface, Vervoe, ~20 globally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FIT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1 (ReadyBank API)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 sales cycle · BD-led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 LTV / 3 yr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54480"/>
            <a:ext cx="73152" cy="30175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&amp; GCCs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Bosch, Siemens, TCS, Infosys, JPMC India, HDFC, BFSI majors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FIT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3 (Stack-Vault) + SKU 2 (JD-Forge)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 sales cycle · founder + AE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 Cr LTV / 3 yr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554480"/>
            <a:ext cx="73152" cy="30175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Firms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Talpro India = Customer Zero, plus 200+ mid-tier staffing firms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FIT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1 (subscription) + SKU 2 (per-JD)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611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week sales cycle · founder-led / self-serve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L LTV / 2 yr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Seven-stage pipeline — AI speed × I/O psych rigor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9202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27048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18488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F1B3D"/>
          </a:solidFill>
          <a:ln/>
        </p:spPr>
      </p:sp>
      <p:sp>
        <p:nvSpPr>
          <p:cNvPr id="9" name="Text 7"/>
          <p:cNvSpPr/>
          <p:nvPr/>
        </p:nvSpPr>
        <p:spPr>
          <a:xfrm>
            <a:off x="1618488" y="19202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22402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9776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71216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F1B3D"/>
          </a:solidFill>
          <a:ln/>
        </p:spPr>
      </p:sp>
      <p:sp>
        <p:nvSpPr>
          <p:cNvPr id="13" name="Text 11"/>
          <p:cNvSpPr/>
          <p:nvPr/>
        </p:nvSpPr>
        <p:spPr>
          <a:xfrm>
            <a:off x="2871216" y="19202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16936" y="22402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Self-Critique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32504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23944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F1B3D"/>
          </a:solidFill>
          <a:ln/>
        </p:spPr>
      </p:sp>
      <p:sp>
        <p:nvSpPr>
          <p:cNvPr id="17" name="Text 15"/>
          <p:cNvSpPr/>
          <p:nvPr/>
        </p:nvSpPr>
        <p:spPr>
          <a:xfrm>
            <a:off x="4123944" y="19202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9664" y="22402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76672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5376672" y="19202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22402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2940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F1B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19202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22402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90688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882128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F1B3D"/>
          </a:solidFill>
          <a:ln/>
        </p:spPr>
      </p:sp>
      <p:sp>
        <p:nvSpPr>
          <p:cNvPr id="29" name="Text 27"/>
          <p:cNvSpPr/>
          <p:nvPr/>
        </p:nvSpPr>
        <p:spPr>
          <a:xfrm>
            <a:off x="7882128" y="19202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27848" y="22402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260604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 per validated coding question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cost across AI + SME + calibration; &lt;$0.10 amortized at scale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3108960"/>
            <a:ext cx="260604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Year 1 → 90%+ Year 3 gross margin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83280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SaaS-grade economics; ReadyBank scale drives the curve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3108960"/>
            <a:ext cx="260604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JD-Forge SLA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72200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tier; 4-hour Reviewed tier with SME validation; private Stack-Vault on demand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SKUs ship within Year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54864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" y="160020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56916" y="160020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2084832" y="182880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4548" y="160020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3712464" y="182880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12180" y="160020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40096" y="182880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9812" y="160020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182880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40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CONTENT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scaffold · 1K Q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256032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alpha · 5K Q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12464" y="256032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 v0 · 12K Q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40096" y="256032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JD-Forge v1 · 25K Q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67728" y="256032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40K+ Q · all 3 SKUs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Talpro Customer Zero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84832" y="338328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recruiter logos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12464" y="338328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GCC SKU 3 #1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0096" y="338328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Tier-3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67728" y="338328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logos · $420K ARR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CAPITAL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₹50L runway sanctioned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84832" y="42062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1–2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12464" y="42062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3–5 + I/O psych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0096" y="42062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6–8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67728" y="42062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Pre-A close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logos · $420K Year 1 ARR · $50M+ by Year 5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03520" y="2011680"/>
            <a:ext cx="54864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2011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2011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logos · 3 SKUs live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03520" y="2606040"/>
            <a:ext cx="54864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9808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SKUs maturing · Pre-A close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03520" y="3200400"/>
            <a:ext cx="54864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32004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9808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(US + UK)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03520" y="3794760"/>
            <a:ext cx="54864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0" y="3794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3794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$50M+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498080" y="3794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platforms · 500 enterprises · 2K firms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617720"/>
            <a:ext cx="841248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6908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Bootstrap-able to $1M ARR via the recruiter motion alone if needed · Series Pre-A conversation begins Month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CEO decisions in the next 14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6479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name: QOrium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76479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₹50L runway · Months 0–3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76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Talpro India = Customer Zero from M1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17627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176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GCC = Stack-Vault Logo #1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58775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87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bandwidth: ~50% allocation Year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58775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587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for first 5 hires (CEO + CTO)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99923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99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SKU naming (or marketing rename)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99923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999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Stack-Vault Enterprise anchor (₹40L)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410712"/>
            <a:ext cx="256032" cy="25603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SKU sequencing (1 → 3 → 1-API → 2)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gate quick score: 21/24  ·  PROCEED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· CEO Deck v1 · May 2026 ·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QOrium — CEO Deck v1</dc:title>
  <dc:subject>PptxGenJS Presentation</dc:subject>
  <dc:creator>Talpro Universe CTO</dc:creator>
  <cp:lastModifiedBy>Talpro Universe CTO</cp:lastModifiedBy>
  <cp:revision>1</cp:revision>
  <dcterms:created xsi:type="dcterms:W3CDTF">2026-05-01T12:55:58Z</dcterms:created>
  <dcterms:modified xsi:type="dcterms:W3CDTF">2026-05-01T12:55:58Z</dcterms:modified>
</cp:coreProperties>
</file>