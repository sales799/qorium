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v0.6 Qs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Java</c:v>
                  </c:pt>
                  <c:pt idx="1">
                    <c:v>React/JS</c:v>
                  </c:pt>
                  <c:pt idx="2">
                    <c:v>SQL/Data</c:v>
                  </c:pt>
                  <c:pt idx="3">
                    <c:v>DevOps/SRE</c:v>
                  </c:pt>
                  <c:pt idx="4">
                    <c:v>Salesforce</c:v>
                  </c:pt>
                  <c:pt idx="5">
                    <c:v>Python</c:v>
                  </c:pt>
                  <c:pt idx="6">
                    <c:v>AWS</c:v>
                  </c:pt>
                  <c:pt idx="7">
                    <c:v>AIPE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Library size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Library size (Qs)</c:v>
                </c:pt>
              </c:strCache>
            </c:strRef>
          </c:tx>
          <c:spPr>
            <a:solidFill>
              <a:srgbClr val="0B1F3A"/>
            </a:solidFill>
            <a:ln w="38100" cap="flat">
              <a:solidFill>
                <a:srgbClr val="0B1F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1F3A"/>
              </a:solidFill>
              <a:ln w="9525" cap="flat">
                <a:solidFill>
                  <a:srgbClr val="0B1F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M12</c:v>
                  </c:pt>
                  <c:pt idx="4">
                    <c:v>M21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690</c:v>
                </c:pt>
                <c:pt idx="1">
                  <c:v>5000</c:v>
                </c:pt>
                <c:pt idx="2">
                  <c:v>12000</c:v>
                </c:pt>
                <c:pt idx="3">
                  <c:v>25000</c:v>
                </c:pt>
                <c:pt idx="4">
                  <c:v>35000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F3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B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8B0000"/>
                </a:solidFill>
                <a:latin typeface="Arial"/>
              </a:rPr>
              <a:t>ARR ($USD)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($USD)</c:v>
                </c:pt>
              </c:strCache>
            </c:strRef>
          </c:tx>
          <c:spPr>
            <a:solidFill>
              <a:srgbClr val="8B0000"/>
            </a:solidFill>
            <a:ln w="38100" cap="flat">
              <a:solidFill>
                <a:srgbClr val="8B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8B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0000"/>
              </a:solidFill>
              <a:ln w="9525" cap="flat">
                <a:solidFill>
                  <a:srgbClr val="8B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M12</c:v>
                  </c:pt>
                  <c:pt idx="4">
                    <c:v>M21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60000</c:v>
                </c:pt>
                <c:pt idx="2">
                  <c:v>240000</c:v>
                </c:pt>
                <c:pt idx="3">
                  <c:v>420000</c:v>
                </c:pt>
                <c:pt idx="4">
                  <c:v>2000000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8B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64592" cy="109728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OFFICE  ·  TALPRO UNIVERSE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Pre-Customer-Zero Briefing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slides · 6-minute layman read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@ 2026-05-03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383280" cy="146304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737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 Qs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920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v0.6 · 13 sub-skills/domains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383280" cy="146304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49640" y="1737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CLOSURE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4964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5496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sub-skills at full 60-Q depth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3383280" cy="146304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89204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ReadyBank API alpha · main · 59 tests green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3200400"/>
            <a:ext cx="3383280" cy="146304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49640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BLOCKERS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9640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3 open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54964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CC-01 · CC-02-A · CC-04 all closed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Talpro India Pvt Ltd  ·  qorium.online  ·  prepared for Bhaskar Anand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autonomously by CTO Office · No Human Touch mode · Run #20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60-second pitch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exist (founder voice)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15 years of running Talpro India staffing, I watched the same thing happen every year.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teams pay HackerRank or Mettl ₹15-25K/year for assessment libraries that leak in days. By Friday, every Senior Java question is on Reddit. The 95%-on-screen candidate flunks the technical interview. The hiring manager calls me, frustrated.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QOrium — Talpro India's product line that fixes the content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63840" y="1554480"/>
            <a:ext cx="3840480" cy="4114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2057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ReadyBank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92440" y="2386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$5K-25K/yr  ·  ₹4,999-49,999/mo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9244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anti-leak library, IRT-calibrated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92440" y="32644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JD-Forge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3593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 $199 / $499 per JD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9244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custom-fit assessment generation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92440" y="44714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Stack-Vault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2440" y="4800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 - 1Cr+ / yr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2440" y="51114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customer-owned, watermark-per-candidate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the content-layer is broken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713232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379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velocity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183794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Java questions rotate to Reddit / leak forums in &lt;72 hrs of release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73152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06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score 95% on a leaked screen, fail the technical interview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713232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29000"/>
            <a:ext cx="73152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75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incentive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35753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HackerRank, Mettl, Codility focus on platform features — content leak is collateral damage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64240" cy="713232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97680"/>
            <a:ext cx="73152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443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India-stack ignored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44439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ABAP · Oracle HCM · Finacle / Flexcube · Embedded Auto sit on the long tail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713232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66360"/>
            <a:ext cx="73152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3126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AI-era assessments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53126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Pair-Coding, AI Tool-Use, prompt engineering — assessed by no incumbent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SKUs — one product 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3736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41148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739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ReadyBank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$5K-25K / yr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assessment platforms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IRT-calibrated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anti-leak rotation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recruiter 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37360"/>
            <a:ext cx="352044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739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JD-Forge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 $199 / $499 per JD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enterprise hiring teams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2918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upload → custom assessment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AI-authored, SME-reviewed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bridge for repeat use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737360"/>
            <a:ext cx="352044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7739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Stack-Vault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 - 1Cr+ / yr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820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GCCs + IT services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32918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customer-owned bank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Watermark-per-candidate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per request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plan: 66 logos · ₹3.5 Cr / $420K ARR  ·  Year 3 trajectory: $7M ARR target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built (Phase 0 close)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2743200" cy="137160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v0.6 candidate-ready Qs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743200" cy="137160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SUB-SKILLS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+ Wave 2 active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743200" cy="137160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 MAIN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✓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379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ReadyBank API alpha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423160" cy="137160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0" y="18745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pts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418320" y="2560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Article VII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301752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MOATS — built, not bought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840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calibration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15137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Item-Response-Theory difficulty + discrimination per question (girth library spec)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840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anti-leak rotation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415137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Serper.dev crawl + replacement when a question surfaces in the wild (SO-9)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AI-Plagiarism Benchmark ≥ 93%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92861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run; if AI solves the question, it doesn't ship (SO-22)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617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Watermark-per-candidate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492861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gets a unique question variant — leak source identifiable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3949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92-pt Quality Gate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57058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Article VII — release gate; six auto-fail criteria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53949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governance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57058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Standing Orders · 7 offices · Project Completion definition (Article IX)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1.0 — already code-shipped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ReadyBank API alpha is on `main`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2026-05-03 09:51-09:55 UTC  ·  GitHub `sales799/qorium`  ·  SHA `3528232`  ·  59 tests green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7680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858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bootstrap, monorepo layout, build scripts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workflow (GitHub Actions) + gitleaks pre-commit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schema migrations + `infra/migrations/` discipline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skeleton — `qorium-readybank-service` (Fastify + Pino)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+ API-key auth (HMAC-SHA256 hashing — CTO-DELTA #4)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schema + ingestion + retrieval endpoints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export + IRT meta plumbing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2377440"/>
            <a:ext cx="3108960" cy="128016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 /  87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8503920" y="3749040"/>
            <a:ext cx="3108960" cy="128016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Auto-skipped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4114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68680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DATABASE_URL · sandbox-only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 for Pre-A diligence: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6509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is now code-stage, not deck-stage. Investor diligence beyond M9 has running infrastructure to inspect.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— Talpro India dogfoods first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Talpro India is QOrium's first customer. Day-1 launch within 7 days.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08760" y="2194560"/>
            <a:ext cx="731520" cy="73152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questions live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sub-skills × 60 = 480 Qs flow through ReadyBank API on qorium.online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560320"/>
            <a:ext cx="960120" cy="0"/>
          </a:xfrm>
          <a:prstGeom prst="line">
            <a:avLst/>
          </a:prstGeom>
          <a:noFill/>
          <a:ln w="19050">
            <a:solidFill>
              <a:srgbClr val="F4B86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343400" y="2194560"/>
            <a:ext cx="731520" cy="73152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Talpro candidate runs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4747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Talpro recruiter assigns a Wave 1 assessment to a real candidate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66360" y="2560320"/>
            <a:ext cx="960120" cy="0"/>
          </a:xfrm>
          <a:prstGeom prst="line">
            <a:avLst/>
          </a:prstGeom>
          <a:noFill/>
          <a:ln w="19050">
            <a:solidFill>
              <a:srgbClr val="F4B86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178040" y="2194560"/>
            <a:ext cx="731520" cy="73152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IRT update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4747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TestForge orchestrator records response; girth recalibrates b/a parameters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2560320"/>
            <a:ext cx="960120" cy="0"/>
          </a:xfrm>
          <a:prstGeom prst="line">
            <a:avLst/>
          </a:prstGeom>
          <a:noFill/>
          <a:ln w="19050">
            <a:solidFill>
              <a:srgbClr val="F4B86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012680" y="2194560"/>
            <a:ext cx="731520" cy="73152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5256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v0.7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0" y="34747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Lead + recruiter feedback merge into next v0.7 question 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dogfooding first (Constitution SO-1)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QOrium can't pass a Talpro hiring screen for senior engineers, no enterprise will buy it. </a:t>
            </a:r>
            <a:pPr indent="0" marL="0">
              <a:buNone/>
            </a:pPr>
            <a:r>
              <a:rPr lang="en-US" sz="12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forces real-world friction (recruiter ergonomics, candidate UX, IRT data flow) before paid pilots. By M3 we expect 100 candidates run; first 5 logos signed.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— 8 / 8 sub-skills at full 60-Q depth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today (Run #20): AIPE third-pass 40 → 60.  Wave 1 = 480 Qs.  Total library = 710.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011680"/>
            <a:ext cx="3474720" cy="4206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(INDIA STACK)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210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ABAP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2104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HCM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0704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2104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CPQ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60704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2104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Finacle / Flexcube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0" y="4160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2104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Automotive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60704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321040" y="5349240"/>
            <a:ext cx="3200400" cy="0"/>
          </a:xfrm>
          <a:prstGeom prst="line">
            <a:avLst/>
          </a:prstGeom>
          <a:noFill/>
          <a:ln w="6350">
            <a:solidFill>
              <a:srgbClr val="C7D7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21040" y="5440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total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607040" y="5440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— first head-to-head: Artifactum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5349240" cy="452628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Artifactum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06240" y="18013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450592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JD-upload 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15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/ NOS positioning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21868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headline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602736"/>
            <a:ext cx="146304" cy="14630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83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calibration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986784"/>
            <a:ext cx="146304" cy="14630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867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 engine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370832"/>
            <a:ext cx="146304" cy="14630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Watermark-per-candidate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754880"/>
            <a:ext cx="146304" cy="14630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636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proof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138928"/>
            <a:ext cx="146304" cy="14630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3-SKU continuum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522976"/>
            <a:ext cx="146304" cy="14630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404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+ 4-mode delivery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5907024"/>
            <a:ext cx="146304" cy="14630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788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92-pt quality gate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691640"/>
            <a:ext cx="5349240" cy="452628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691640"/>
            <a:ext cx="5349240" cy="502920"/>
          </a:xfrm>
          <a:prstGeom prst="rect">
            <a:avLst/>
          </a:prstGeom>
          <a:solidFill>
            <a:srgbClr val="0E5C3A"/>
          </a:solidFill>
          <a:ln w="12700">
            <a:solidFill>
              <a:srgbClr val="0E5C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75520" y="18013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46520" y="2450592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calibration (girth lib)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283464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2715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anti-leak rotation (SO-9)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321868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Watermark-per-candidate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3602736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483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(Talpro)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46520" y="3986784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3867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SKUs · 4 delivery modes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4370832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AI-Plagiarism ≥93% (SO-22)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475488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4636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92-pt quality gate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46520" y="513892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governance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46520" y="5522976"/>
            <a:ext cx="146304" cy="14630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5404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JD-upload UI polish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46520" y="5907024"/>
            <a:ext cx="146304" cy="14630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5788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/ NOS positioning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plan: M3 sprints 0.9 + 1.5 + 1.6 + 1.7 close the UX/positioning gaps; long-term moats (IRT, anti-leak, watermarking) compound through Phase 2-4.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 trajectory — 690 → 35K Qs · $0 → $2M ARR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691640"/>
          <a:ext cx="5212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 round target M21:  ₹6-8 Cr  /  $700K-$1M.   Use of funds: 50% Eng+Content · 25% Sales+GTM · 15% IP+Compliance · 10% Reserve.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(CEO) need to know in 60 seconds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73152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132588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91440" cy="1325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nothing on your plate gates Sprint 1.0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CC-01 — ₹50L sub-budget tagged QORIUM in Talpro India books (CEO is also CFO; self-attested)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CC-02-A — K&amp;S Partners IP counsel engagement email sent (awaiting reply, async)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CC-04 — Domain qorium.online registered (you chose .online over .io/.in)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32588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00400"/>
            <a:ext cx="91440" cy="132588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918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— CTO Office working without you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0.7 — Wave 1 closed at 8/8 × 60 Qs (480) + Wave 2 at 230 = 710-Q library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0.6 — Bridge Protocol bash script tested; ready to sync Cowork specs → Stream B GitHub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1.0 — Customer Zero Day-1 launch: &lt;7 days to first Talpro candidate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64240" cy="132588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709160"/>
            <a:ext cx="91440" cy="1325880"/>
          </a:xfrm>
          <a:prstGeom prst="rect">
            <a:avLst/>
          </a:prstGeom>
          <a:solidFill>
            <a:srgbClr val="C7D7EC"/>
          </a:solidFill>
          <a:ln w="12700">
            <a:solidFill>
              <a:srgbClr val="C7D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8006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ACCELERATORS — optional, ≤60 sec each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CC-13 — Create WhatsApp group 'QOrium Customer Zero' (alongside email + Telegram)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Amendment v2.1 — read + signal YES/NO on psychometric AUTHORED vs LICENSED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K&amp;S Partners reply — when it arrives, forward thread to CTO Office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— CEO Pre-Customer-Zero Briefing  ·  Talpro India Pvt Ltd  ·  2026-05-03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152B4D"/>
          </a:solidFill>
          <a:ln w="12700">
            <a:solidFill>
              <a:srgbClr val="152B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(Constitution Article IX, locked)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53512"/>
            <a:ext cx="164592" cy="164592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788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 ≥ $300M  (Mercer / Workday / HireVue tier)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164592" cy="164592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4290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IPO ≥ ₹3,000 Cr  /  US listing ≥ $500M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069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Talpro Universe Anchor with ≥ $50M independent ARR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CTO PROMISE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Auto Mode. No Human Touch.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21031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watches. Mission Control refreshed every run. Every CEO physical action ≤60 sec or non-blocking.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`continue` (Run #21):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40233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1.0 — Customer Zero Day-1 launch: first Talpro candidate runs through ReadyBank API alpha → IRT pipeline → score.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QOrium  ·  Question-Bank-as-a-Service  ·  qorium.online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Talpro India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QOrium — CEO Pre-Customer-Zero Briefing</dc:title>
  <dc:subject>PptxGenJS Presentation</dc:subject>
  <dc:creator>CTO Office (Talpro Universe)</dc:creator>
  <cp:lastModifiedBy>CTO Office (Talpro Universe)</cp:lastModifiedBy>
  <cp:revision>1</cp:revision>
  <dcterms:created xsi:type="dcterms:W3CDTF">2026-05-03T14:39:59Z</dcterms:created>
  <dcterms:modified xsi:type="dcterms:W3CDTF">2026-05-03T14:39:59Z</dcterms:modified>
</cp:coreProperties>
</file>